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g"/>
  <Default Extension="png" ContentType="image/png"/>
  <Default Extension="bmp" ContentType="image/bmp"/>
  <Default Extension="gif" ContentType="image/gif"/>
  <Default Extension="tif" ContentType="image/tif"/>
  <Default Extension="pdf" ContentType="application/pdf"/>
  <Default Extension="mov" ContentType="application/movie"/>
  <Default Extension="vml" ContentType="application/vnd.openxmlformats-officedocument.vmlDrawing"/>
  <Default Extension="xlsx" ContentType="application/vnd.openxmlformats-officedocument.spreadsheetml.sheet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commentAuthors.xml" ContentType="application/vnd.openxmlformats-officedocument.presentationml.commentAuthors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media/image1.jpeg" ContentType="image/jpeg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ldMasterIdLst>
    <p:sldMasterId id="2147483648" r:id="rId5"/>
  </p:sldMasterIdLst>
  <p:notesMasterIdLst>
    <p:notesMasterId r:id="rId7"/>
  </p:notesMasterIdLst>
  <p:sldIdLst>
    <p:sldId id="256" r:id="rId8"/>
    <p:sldId id="257" r:id="rId9"/>
    <p:sldId id="258" r:id="rId10"/>
  </p:sldIdLst>
  <p:sldSz cx="12192000" cy="6858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1pPr>
    <a:lvl2pPr marL="0" marR="0" indent="457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2pPr>
    <a:lvl3pPr marL="0" marR="0" indent="914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3pPr>
    <a:lvl4pPr marL="0" marR="0" indent="1371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4pPr>
    <a:lvl5pPr marL="0" marR="0" indent="18288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5pPr>
    <a:lvl6pPr marL="0" marR="0" indent="22860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6pPr>
    <a:lvl7pPr marL="0" marR="0" indent="2743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7pPr>
    <a:lvl8pPr marL="0" marR="0" indent="3200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8pPr>
    <a:lvl9pPr marL="0" marR="0" indent="3657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DD4EA"/>
          </a:solidFill>
        </a:fill>
      </a:tcStyle>
    </a:wholeTbl>
    <a:band2H>
      <a:tcTxStyle b="def" i="def"/>
      <a:tcStyle>
        <a:tcBdr/>
        <a:fill>
          <a:solidFill>
            <a:srgbClr val="E8EBF5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E0E0E0"/>
          </a:solidFill>
        </a:fill>
      </a:tcStyle>
    </a:wholeTbl>
    <a:band2H>
      <a:tcTxStyle b="def" i="def"/>
      <a:tcStyle>
        <a:tcBdr/>
        <a:fill>
          <a:solidFill>
            <a:srgbClr val="F0F0F0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EEE7283C-3CF3-47DC-8721-378D4A62B22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4E2CE"/>
          </a:solidFill>
        </a:fill>
      </a:tcStyle>
    </a:wholeTbl>
    <a:band2H>
      <a:tcTxStyle b="def" i="def"/>
      <a:tcStyle>
        <a:tcBdr/>
        <a:fill>
          <a:solidFill>
            <a:srgbClr val="EBF1E8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CF821DB8-F4EB-4A41-A1BA-3FCAFE7338EE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 b="def" i="def"/>
      <a:tcStyle>
        <a:tcBdr/>
        <a:fill>
          <a:solidFill>
            <a:srgbClr val="E6E6E6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Comments="1"/>
</file>

<file path=ppt/_rels/presentation.xml.rels><?xml version="1.0" encoding="UTF-8"?>
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/Relationships>
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</Relationships>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24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25" name="Shape 25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defRPr sz="1200">
        <a:latin typeface="+mn-lt"/>
        <a:ea typeface="+mn-ea"/>
        <a:cs typeface="+mn-cs"/>
        <a:sym typeface="Calibri"/>
      </a:defRPr>
    </a:lvl1pPr>
    <a:lvl2pPr indent="228600" defTabSz="457200" latinLnBrk="0">
      <a:defRPr sz="1200">
        <a:latin typeface="+mn-lt"/>
        <a:ea typeface="+mn-ea"/>
        <a:cs typeface="+mn-cs"/>
        <a:sym typeface="Calibri"/>
      </a:defRPr>
    </a:lvl2pPr>
    <a:lvl3pPr indent="457200" defTabSz="457200" latinLnBrk="0">
      <a:defRPr sz="1200">
        <a:latin typeface="+mn-lt"/>
        <a:ea typeface="+mn-ea"/>
        <a:cs typeface="+mn-cs"/>
        <a:sym typeface="Calibri"/>
      </a:defRPr>
    </a:lvl3pPr>
    <a:lvl4pPr indent="685800" defTabSz="457200" latinLnBrk="0">
      <a:defRPr sz="1200">
        <a:latin typeface="+mn-lt"/>
        <a:ea typeface="+mn-ea"/>
        <a:cs typeface="+mn-cs"/>
        <a:sym typeface="Calibri"/>
      </a:defRPr>
    </a:lvl4pPr>
    <a:lvl5pPr indent="914400" defTabSz="457200" latinLnBrk="0">
      <a:defRPr sz="1200">
        <a:latin typeface="+mn-lt"/>
        <a:ea typeface="+mn-ea"/>
        <a:cs typeface="+mn-cs"/>
        <a:sym typeface="Calibri"/>
      </a:defRPr>
    </a:lvl5pPr>
    <a:lvl6pPr indent="1143000" defTabSz="457200" latinLnBrk="0">
      <a:defRPr sz="1200">
        <a:latin typeface="+mn-lt"/>
        <a:ea typeface="+mn-ea"/>
        <a:cs typeface="+mn-cs"/>
        <a:sym typeface="Calibri"/>
      </a:defRPr>
    </a:lvl6pPr>
    <a:lvl7pPr indent="1371600" defTabSz="457200" latinLnBrk="0">
      <a:defRPr sz="1200">
        <a:latin typeface="+mn-lt"/>
        <a:ea typeface="+mn-ea"/>
        <a:cs typeface="+mn-cs"/>
        <a:sym typeface="Calibri"/>
      </a:defRPr>
    </a:lvl7pPr>
    <a:lvl8pPr indent="1600200" defTabSz="457200" latinLnBrk="0">
      <a:defRPr sz="1200">
        <a:latin typeface="+mn-lt"/>
        <a:ea typeface="+mn-ea"/>
        <a:cs typeface="+mn-cs"/>
        <a:sym typeface="Calibri"/>
      </a:defRPr>
    </a:lvl8pPr>
    <a:lvl9pPr indent="1828800" defTabSz="457200" latinLnBrk="0">
      <a:defRPr sz="1200">
        <a:latin typeface="+mn-lt"/>
        <a:ea typeface="+mn-ea"/>
        <a:cs typeface="+mn-cs"/>
        <a:sym typeface="Calibri"/>
      </a:defRPr>
    </a:lvl9pPr>
  </p:notesStyle>
</p:notesMaster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4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Text"/>
          <p:cNvSpPr txBox="1"/>
          <p:nvPr>
            <p:ph type="title"/>
          </p:nvPr>
        </p:nvSpPr>
        <p:spPr>
          <a:xfrm>
            <a:off x="609600" y="92074"/>
            <a:ext cx="10972800" cy="150812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normAutofit fontScale="100000" lnSpcReduction="0"/>
          </a:bodyPr>
          <a:lstStyle/>
          <a:p>
            <a:pPr/>
            <a:r>
              <a:t>Title Text</a:t>
            </a:r>
          </a:p>
        </p:txBody>
      </p:sp>
      <p:sp>
        <p:nvSpPr>
          <p:cNvPr id="3" name="Body Level One…"/>
          <p:cNvSpPr txBox="1"/>
          <p:nvPr>
            <p:ph type="body" idx="1"/>
          </p:nvPr>
        </p:nvSpPr>
        <p:spPr>
          <a:xfrm>
            <a:off x="609600" y="1600200"/>
            <a:ext cx="10972800" cy="5257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" name="Slide Number"/>
          <p:cNvSpPr txBox="1"/>
          <p:nvPr>
            <p:ph type="sldNum" sz="quarter" idx="2"/>
          </p:nvPr>
        </p:nvSpPr>
        <p:spPr>
          <a:xfrm>
            <a:off x="5892800" y="6172200"/>
            <a:ext cx="2844800" cy="368301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 anchor="ctr">
            <a:spAutoFit/>
          </a:bodyPr>
          <a:lstStyle>
            <a:lvl1pPr algn="r">
              <a:defRPr sz="1200">
                <a:solidFill>
                  <a:srgbClr val="888888"/>
                </a:solidFill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  <p:transition xmlns:p14="http://schemas.microsoft.com/office/powerpoint/2010/main" spd="med" advClick="1"/>
  <p:txStyles>
    <p:titleStyle>
      <a:lvl1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1pPr>
      <a:lvl2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2pPr>
      <a:lvl3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3pPr>
      <a:lvl4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4pPr>
      <a:lvl5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5pPr>
      <a:lvl6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6pPr>
      <a:lvl7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7pPr>
      <a:lvl8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8pPr>
      <a:lvl9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9pPr>
    </p:titleStyle>
    <p:bodyStyle>
      <a:lvl1pPr marL="228600" marR="0" indent="-228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28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1pPr>
      <a:lvl2pPr marL="723900" marR="0" indent="-2667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28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2pPr>
      <a:lvl3pPr marL="1234439" marR="0" indent="-320039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28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3pPr>
      <a:lvl4pPr marL="17272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28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4pPr>
      <a:lvl5pPr marL="21844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28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5pPr>
      <a:lvl6pPr marL="26416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28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6pPr>
      <a:lvl7pPr marL="30988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28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7pPr>
      <a:lvl8pPr marL="35560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28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8pPr>
      <a:lvl9pPr marL="40132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28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9pPr>
    </p:bodyStyle>
    <p:otherStyle>
      <a:lvl1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1pPr>
      <a:lvl2pPr marL="0" marR="0" indent="4572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2pPr>
      <a:lvl3pPr marL="0" marR="0" indent="9144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3pPr>
      <a:lvl4pPr marL="0" marR="0" indent="13716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4pPr>
      <a:lvl5pPr marL="0" marR="0" indent="18288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5pPr>
      <a:lvl6pPr marL="0" marR="0" indent="22860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6pPr>
      <a:lvl7pPr marL="0" marR="0" indent="27432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7pPr>
      <a:lvl8pPr marL="0" marR="0" indent="32004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8pPr>
      <a:lvl9pPr marL="0" marR="0" indent="36576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9pPr>
    </p:otherStyle>
  </p:txStyles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jpeg"/><Relationship Id="rId3" Type="http://schemas.openxmlformats.org/officeDocument/2006/relationships/image" Target="../media/image1.png"/></Relationships>
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jpeg"/><Relationship Id="rId3" Type="http://schemas.openxmlformats.org/officeDocument/2006/relationships/image" Target="../media/image1.png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North-Valley_Cover2.jpg" descr="North-Valley_Cover2.jp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 w="12700">
            <a:miter lim="400000"/>
          </a:ln>
        </p:spPr>
      </p:pic>
      <p:sp>
        <p:nvSpPr>
          <p:cNvPr id="28" name="Text Placeholder 5"/>
          <p:cNvSpPr txBox="1"/>
          <p:nvPr/>
        </p:nvSpPr>
        <p:spPr>
          <a:xfrm>
            <a:off x="1217359" y="3081037"/>
            <a:ext cx="10500000" cy="17671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lnSpc>
                <a:spcPts val="{{FRONT_LS}}"/>
              </a:lnSpc>
              <a:defRPr b="1" sz="{{FRONT_SZ}}">
                <a:solidFill>
                  <a:srgbClr val="FFFFFF"/>
                </a:solidFill>
                <a:latin typeface="+mj-lt"/>
                <a:ea typeface="+mj-ea"/>
                <a:cs typeface="+mj-cs"/>
                <a:sym typeface="Helvetica"/>
              </a:defRPr>
            </a:pPr>
            <a:r>
              <a:t>PRF Analysis {{DATE}}</a:t>
            </a:r>
          </a:p>
          <a:p>
            <a:pPr>
              <a:lnSpc>
                <a:spcPts val="{{FRONT_LS}}"/>
              </a:lnSpc>
              <a:defRPr b="1" sz="{{FRONT_SZ}}">
                <a:solidFill>
                  <a:srgbClr val="FFFFFF"/>
                </a:solidFill>
                <a:latin typeface="+mj-lt"/>
                <a:ea typeface="+mj-ea"/>
                <a:cs typeface="+mj-cs"/>
                <a:sym typeface="Helvetica"/>
              </a:defRPr>
            </a:pPr>
            <a:r>
              <a:t>{{AREA}}</a:t>
            </a:r>
          </a:p>
        </p:txBody>
      </p:sp>
      <p:sp>
        <p:nvSpPr>
          <p:cNvPr id="29" name="Rounded Rectangle 8"/>
          <p:cNvSpPr/>
          <p:nvPr/>
        </p:nvSpPr>
        <p:spPr>
          <a:xfrm>
            <a:off x="1146747" y="5340766"/>
            <a:ext cx="802729" cy="57956"/>
          </a:xfrm>
          <a:prstGeom prst="roundRect">
            <a:avLst>
              <a:gd name="adj" fmla="val 50000"/>
            </a:avLst>
          </a:prstGeom>
          <a:solidFill>
            <a:srgbClr val="C82828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pic>
        <p:nvPicPr>
          <p:cNvPr id="30" name="North Valley Insurance Logo(1)_White.png" descr="North Valley Insurance Logo(1)_White.png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880610" y="1617419"/>
            <a:ext cx="2812182" cy="971083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Rounded Rectangle"/>
          <p:cNvSpPr/>
          <p:nvPr/>
        </p:nvSpPr>
        <p:spPr>
          <a:xfrm>
            <a:off x="-91974" y="-132573"/>
            <a:ext cx="12375948" cy="742558"/>
          </a:xfrm>
          <a:prstGeom prst="roundRect">
            <a:avLst>
              <a:gd name="adj" fmla="val 0"/>
            </a:avLst>
          </a:prstGeom>
          <a:solidFill>
            <a:srgbClr val="F1F4F8"/>
          </a:solidFill>
          <a:ln w="12700">
            <a:miter lim="400000"/>
          </a:ln>
        </p:spPr>
        <p:txBody>
          <a:bodyPr lIns="45719" rIns="45719" anchor="ctr"/>
          <a:lstStyle/>
          <a:p>
            <a:pPr>
              <a:defRPr sz="1600">
                <a:solidFill>
                  <a:srgbClr val="F5F5F5"/>
                </a:solidFill>
              </a:defRPr>
            </a:pPr>
          </a:p>
        </p:txBody>
      </p:sp>
      <p:sp>
        <p:nvSpPr>
          <p:cNvPr id="33" name="Text Placeholder 5"/>
          <p:cNvSpPr txBox="1"/>
          <p:nvPr/>
        </p:nvSpPr>
        <p:spPr>
          <a:xfrm>
            <a:off x="3954748" y="226933"/>
            <a:ext cx="4282504" cy="243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defRPr cap="all" spc="272" sz="1000">
                <a:solidFill>
                  <a:srgbClr val="11315D"/>
                </a:solidFill>
                <a:latin typeface="+mj-lt"/>
                <a:ea typeface="+mj-ea"/>
                <a:cs typeface="+mj-cs"/>
                <a:sym typeface="Helvetica"/>
              </a:defRPr>
            </a:lvl1pPr>
          </a:lstStyle>
          <a:p>
            <a:pPr/>
            <a:r>
              <a:t>TOP Coverage Options CROP YEAR {{CROP_YEAR}}</a:t>
            </a:r>
          </a:p>
        </p:txBody>
      </p:sp>
      <p:sp>
        <p:nvSpPr>
          <p:cNvPr id="34" name="Text Placeholder 5"/>
          <p:cNvSpPr txBox="1"/>
          <p:nvPr/>
        </p:nvSpPr>
        <p:spPr>
          <a:xfrm>
            <a:off x="2649815" y="1372058"/>
            <a:ext cx="6892370" cy="243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defRPr cap="all" spc="272" sz="1000">
                <a:solidFill>
                  <a:srgbClr val="B83831"/>
                </a:solidFill>
                <a:latin typeface="+mj-lt"/>
                <a:ea typeface="+mj-ea"/>
                <a:cs typeface="+mj-cs"/>
                <a:sym typeface="Helvetica"/>
              </a:defRPr>
            </a:lvl1pPr>
          </a:lstStyle>
          <a:p>
            <a:pPr/>
            <a:r>
              <a:t>Top 5 Consistent and Top 5 Return</a:t>
            </a:r>
          </a:p>
        </p:txBody>
      </p:sp>
      <p:sp>
        <p:nvSpPr>
          <p:cNvPr id="35" name="Rounded Rectangle 18"/>
          <p:cNvSpPr/>
          <p:nvPr/>
        </p:nvSpPr>
        <p:spPr>
          <a:xfrm>
            <a:off x="5694636" y="1842095"/>
            <a:ext cx="802729" cy="57956"/>
          </a:xfrm>
          <a:prstGeom prst="roundRect">
            <a:avLst>
              <a:gd name="adj" fmla="val 50000"/>
            </a:avLst>
          </a:prstGeom>
          <a:solidFill>
            <a:srgbClr val="C82828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graphicFrame>
        <p:nvGraphicFramePr>
          <p:cNvPr id="36" name="Table"/>
          <p:cNvGraphicFramePr/>
          <p:nvPr/>
        </p:nvGraphicFramePr>
        <p:xfrm>
          <a:off x="1088306" y="2113547"/>
          <a:ext cx="10554103" cy="4479540"/>
        </p:xfrm>
        <a:graphic xmlns:a="http://schemas.openxmlformats.org/drawingml/2006/main">
          <a:graphicData uri="http://schemas.openxmlformats.org/drawingml/2006/table">
            <a:tbl>
              <a:tblPr firstCol="0" firstRow="1" lastCol="0" lastRow="0" bandCol="0" bandRow="1" rtl="0">
                <a:tableStyleId>{C7B018BB-80A7-4F77-B60F-C8B233D01FF8}</a:tableStyleId>
              </a:tblPr>
              <a:tblGrid>
                <a:gridCol w="1256569"/>
                <a:gridCol w="1310115"/>
                <a:gridCol w="3114499"/>
                <a:gridCol w="2440362"/>
                <a:gridCol w="2419855"/>
              </a:tblGrid>
              <a:tr h="740489">
                <a:tc>
                  <a:txBody>
                    <a:bodyPr/>
                    <a:lstStyle/>
                    <a:p>
                      <a:pPr algn="ctr">
                        <a:defRPr b="0" sz="1800">
                          <a:solidFill>
                            <a:srgbClr val="000000"/>
                          </a:solidFill>
                        </a:defRPr>
                      </a:pPr>
                      <a:r>
                        <a:rPr b="1" cap="all" spc="300" sz="1100">
                          <a:solidFill>
                            <a:srgbClr val="FFFFFF"/>
                          </a:solidFill>
                          <a:latin typeface="+mj-lt"/>
                          <a:ea typeface="+mj-ea"/>
                          <a:cs typeface="+mj-cs"/>
                          <a:sym typeface="Helvetica"/>
                        </a:rPr>
                        <a:t>RANK</a:t>
                      </a:r>
                    </a:p>
                  </a:txBody>
                  <a:tcPr marL="0" marR="0" marT="0" marB="0" anchor="ctr" anchorCtr="0" horzOverflow="overflow">
                    <a:solidFill>
                      <a:srgbClr val="0810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800">
                          <a:solidFill>
                            <a:srgbClr val="000000"/>
                          </a:solidFill>
                        </a:defRPr>
                      </a:pPr>
                      <a:r>
                        <a:rPr b="1" cap="all" spc="300" sz="1100">
                          <a:solidFill>
                            <a:srgbClr val="FFFFFF"/>
                          </a:solidFill>
                          <a:latin typeface="+mj-lt"/>
                          <a:ea typeface="+mj-ea"/>
                          <a:cs typeface="+mj-cs"/>
                          <a:sym typeface="Helvetica"/>
                        </a:rPr>
                        <a:t>Success Rate</a:t>
                      </a:r>
                    </a:p>
                  </a:txBody>
                  <a:tcPr marL="0" marR="0" marT="0" marB="0" anchor="ctr" anchorCtr="0" horzOverflow="overflow">
                    <a:solidFill>
                      <a:srgbClr val="0810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cap="all" spc="300" sz="1100">
                          <a:latin typeface="+mj-lt"/>
                          <a:ea typeface="+mj-ea"/>
                          <a:cs typeface="+mj-cs"/>
                          <a:sym typeface="Helvetica"/>
                        </a:defRPr>
                      </a:pPr>
                      <a:r>
                        <a:t>{{YEARS}} Year Net Return </a:t>
                      </a:r>
                    </a:p>
                    <a:p>
                      <a:pPr algn="ctr">
                        <a:defRPr cap="all" spc="300" sz="1100">
                          <a:latin typeface="+mj-lt"/>
                          <a:ea typeface="+mj-ea"/>
                          <a:cs typeface="+mj-cs"/>
                          <a:sym typeface="Helvetica"/>
                        </a:defRPr>
                      </a:pPr>
                      <a:r>
                        <a:t>Per Acre </a:t>
                      </a:r>
                      <a:r>
                        <a:rPr b="0"/>
                        <a:t>(Annualized)</a:t>
                      </a:r>
                    </a:p>
                  </a:txBody>
                  <a:tcPr marL="0" marR="0" marT="0" marB="0" anchor="ctr" anchorCtr="0" horzOverflow="overflow">
                    <a:solidFill>
                      <a:srgbClr val="0810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800">
                          <a:solidFill>
                            <a:srgbClr val="000000"/>
                          </a:solidFill>
                        </a:defRPr>
                      </a:pPr>
                      <a:r>
                        <a:rPr b="1" cap="all" spc="300" sz="1100">
                          <a:solidFill>
                            <a:srgbClr val="FFFFFF"/>
                          </a:solidFill>
                          <a:latin typeface="+mj-lt"/>
                          <a:ea typeface="+mj-ea"/>
                          <a:cs typeface="+mj-cs"/>
                          <a:sym typeface="Helvetica"/>
                        </a:rPr>
                        <a:t>Intervals 
Utilized</a:t>
                      </a:r>
                    </a:p>
                  </a:txBody>
                  <a:tcPr marL="0" marR="0" marT="0" marB="0" anchor="ctr" anchorCtr="0" horzOverflow="overflow">
                    <a:solidFill>
                      <a:srgbClr val="0810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800">
                          <a:solidFill>
                            <a:srgbClr val="000000"/>
                          </a:solidFill>
                        </a:defRPr>
                      </a:pPr>
                      <a:r>
                        <a:rPr b="1" cap="all" spc="300" sz="1100">
                          <a:solidFill>
                            <a:srgbClr val="FFFFFF"/>
                          </a:solidFill>
                          <a:latin typeface="+mj-lt"/>
                          <a:ea typeface="+mj-ea"/>
                          <a:cs typeface="+mj-cs"/>
                          <a:sym typeface="Helvetica"/>
                        </a:rPr>
                        <a:t>Interval 
Allocations by %</a:t>
                      </a:r>
                    </a:p>
                  </a:txBody>
                  <a:tcPr marL="0" marR="0" marT="0" marB="0" anchor="ctr" anchorCtr="0" horzOverflow="overflow">
                    <a:solidFill>
                      <a:srgbClr val="08103A"/>
                    </a:solidFill>
                  </a:tcPr>
                </a:tc>
              </a:tr>
              <a:tr h="379430">
                <a:tc>
                  <a:txBody>
                    <a:bodyPr/>
                    <a:lstStyle/>
                    <a:p>
                      <a:pPr algn="ctr" defTabSz="457200">
                        <a:defRPr sz="1800"/>
                      </a:pPr>
                      <a:r>
                        <a:rPr spc="70" sz="1000">
                          <a:latin typeface="+mj-lt"/>
                          <a:ea typeface="+mj-ea"/>
                          <a:cs typeface="+mj-cs"/>
                          <a:sym typeface="Helvetica"/>
                        </a:rPr>
                        <a:t>Ranked #1</a:t>
                      </a:r>
                    </a:p>
                  </a:txBody>
                  <a:tcPr marL="0" marR="0" marT="0" marB="0" anchor="ctr" anchorCtr="0" horzOverflow="overflow"/>
                </a:tc>
                <a:tc>
                  <a:txBody>
                    <a:bodyPr/>
                    <a:lstStyle/>
                    <a:p>
                      <a:pPr algn="ctr" defTabSz="457200">
                        <a:defRPr sz="1800"/>
                      </a:pPr>
                      <a:r>
                        <a:rPr spc="70" sz="1000">
                          <a:latin typeface="+mj-lt"/>
                          <a:ea typeface="+mj-ea"/>
                          <a:cs typeface="+mj-cs"/>
                          <a:sym typeface="Helvetica"/>
                        </a:rPr>
                        <a:t>{{C1_WIN}}</a:t>
                      </a:r>
                    </a:p>
                  </a:txBody>
                  <a:tcPr marL="0" marR="0" marT="0" marB="0" anchor="ctr" anchorCtr="0" horzOverflow="overflow"/>
                </a:tc>
                <a:tc>
                  <a:txBody>
                    <a:bodyPr/>
                    <a:lstStyle/>
                    <a:p>
                      <a:pPr algn="ctr" defTabSz="457200">
                        <a:defRPr sz="1800"/>
                      </a:pPr>
                      <a:r>
                        <a:rPr spc="70" sz="1000">
                          <a:latin typeface="+mj-lt"/>
                          <a:ea typeface="+mj-ea"/>
                          <a:cs typeface="+mj-cs"/>
                          <a:sym typeface="Helvetica"/>
                        </a:rPr>
                        <a:t>{{C1_NET}}</a:t>
                      </a:r>
                    </a:p>
                  </a:txBody>
                  <a:tcPr marL="0" marR="0" marT="0" marB="0" anchor="ctr" anchorCtr="0" horzOverflow="overflow"/>
                </a:tc>
                <a:tc>
                  <a:txBody>
                    <a:bodyPr/>
                    <a:lstStyle/>
                    <a:p>
                      <a:pPr algn="ctr" defTabSz="457200">
                        <a:defRPr sz="1800"/>
                      </a:pPr>
                      <a:r>
                        <a:rPr spc="63" sz="900">
                          <a:latin typeface="+mj-lt"/>
                          <a:ea typeface="+mj-ea"/>
                          <a:cs typeface="+mj-cs"/>
                          <a:sym typeface="Helvetica"/>
                        </a:rPr>
                        <a:t>{{C1_IV}}</a:t>
                      </a:r>
                    </a:p>
                  </a:txBody>
                  <a:tcPr marL="0" marR="0" marT="0" marB="0" anchor="ctr" anchorCtr="0" horzOverflow="overflow"/>
                </a:tc>
                <a:tc>
                  <a:txBody>
                    <a:bodyPr/>
                    <a:lstStyle/>
                    <a:p>
                      <a:pPr algn="ctr" defTabSz="457200">
                        <a:defRPr sz="1800"/>
                      </a:pPr>
                      <a:r>
                        <a:rPr spc="63" sz="900">
                          <a:latin typeface="+mj-lt"/>
                          <a:ea typeface="+mj-ea"/>
                          <a:cs typeface="+mj-cs"/>
                          <a:sym typeface="Helvetica"/>
                        </a:rPr>
                        <a:t>{{C1_AL}}</a:t>
                      </a:r>
                    </a:p>
                  </a:txBody>
                  <a:tcPr marL="0" marR="0" marT="0" marB="0" anchor="ctr" anchorCtr="0" horzOverflow="overflow"/>
                </a:tc>
              </a:tr>
              <a:tr h="372068">
                <a:tc>
                  <a:txBody>
                    <a:bodyPr/>
                    <a:lstStyle/>
                    <a:p>
                      <a:pPr algn="ctr" defTabSz="457200">
                        <a:defRPr sz="1800"/>
                      </a:pPr>
                      <a:r>
                        <a:rPr spc="70" sz="1000">
                          <a:latin typeface="+mj-lt"/>
                          <a:ea typeface="+mj-ea"/>
                          <a:cs typeface="+mj-cs"/>
                          <a:sym typeface="Helvetica"/>
                        </a:rPr>
                        <a:t>Ranked #2</a:t>
                      </a:r>
                    </a:p>
                  </a:txBody>
                  <a:tcPr marL="0" marR="0" marT="0" marB="0" anchor="ctr" anchorCtr="0" horzOverflow="overflow"/>
                </a:tc>
                <a:tc>
                  <a:txBody>
                    <a:bodyPr/>
                    <a:lstStyle/>
                    <a:p>
                      <a:pPr algn="ctr" defTabSz="457200">
                        <a:defRPr sz="1800"/>
                      </a:pPr>
                      <a:r>
                        <a:rPr spc="70" sz="1000">
                          <a:latin typeface="+mj-lt"/>
                          <a:ea typeface="+mj-ea"/>
                          <a:cs typeface="+mj-cs"/>
                          <a:sym typeface="Helvetica"/>
                        </a:rPr>
                        <a:t>{{C2_WIN}}</a:t>
                      </a:r>
                    </a:p>
                  </a:txBody>
                  <a:tcPr marL="0" marR="0" marT="0" marB="0" anchor="ctr" anchorCtr="0" horzOverflow="overflow"/>
                </a:tc>
                <a:tc>
                  <a:txBody>
                    <a:bodyPr/>
                    <a:lstStyle/>
                    <a:p>
                      <a:pPr algn="ctr" defTabSz="457200">
                        <a:defRPr sz="1800"/>
                      </a:pPr>
                      <a:r>
                        <a:rPr spc="70" sz="1000">
                          <a:latin typeface="+mj-lt"/>
                          <a:ea typeface="+mj-ea"/>
                          <a:cs typeface="+mj-cs"/>
                          <a:sym typeface="Helvetica"/>
                        </a:rPr>
                        <a:t>{{C2_NET}}</a:t>
                      </a:r>
                    </a:p>
                  </a:txBody>
                  <a:tcPr marL="0" marR="0" marT="0" marB="0" anchor="ctr" anchorCtr="0" horzOverflow="overflow"/>
                </a:tc>
                <a:tc>
                  <a:txBody>
                    <a:bodyPr/>
                    <a:lstStyle/>
                    <a:p>
                      <a:pPr algn="ctr" defTabSz="457200">
                        <a:defRPr sz="1800"/>
                      </a:pPr>
                      <a:r>
                        <a:rPr spc="63" sz="900">
                          <a:latin typeface="+mj-lt"/>
                          <a:ea typeface="+mj-ea"/>
                          <a:cs typeface="+mj-cs"/>
                          <a:sym typeface="Helvetica"/>
                        </a:rPr>
                        <a:t>{{C2_IV}}</a:t>
                      </a:r>
                    </a:p>
                  </a:txBody>
                  <a:tcPr marL="0" marR="0" marT="0" marB="0" anchor="ctr" anchorCtr="0" horzOverflow="overflow"/>
                </a:tc>
                <a:tc>
                  <a:txBody>
                    <a:bodyPr/>
                    <a:lstStyle/>
                    <a:p>
                      <a:pPr algn="ctr" defTabSz="457200">
                        <a:defRPr sz="1800"/>
                      </a:pPr>
                      <a:r>
                        <a:rPr spc="63" sz="900">
                          <a:latin typeface="+mj-lt"/>
                          <a:ea typeface="+mj-ea"/>
                          <a:cs typeface="+mj-cs"/>
                          <a:sym typeface="Helvetica"/>
                        </a:rPr>
                        <a:t>{{C2_AL}}</a:t>
                      </a:r>
                    </a:p>
                  </a:txBody>
                  <a:tcPr marL="0" marR="0" marT="0" marB="0" anchor="ctr" anchorCtr="0" horzOverflow="overflow"/>
                </a:tc>
              </a:tr>
              <a:tr h="372068">
                <a:tc>
                  <a:txBody>
                    <a:bodyPr/>
                    <a:lstStyle/>
                    <a:p>
                      <a:pPr algn="ctr" defTabSz="457200">
                        <a:defRPr sz="1800"/>
                      </a:pPr>
                      <a:r>
                        <a:rPr spc="70" sz="1000">
                          <a:latin typeface="+mj-lt"/>
                          <a:ea typeface="+mj-ea"/>
                          <a:cs typeface="+mj-cs"/>
                          <a:sym typeface="Helvetica"/>
                        </a:rPr>
                        <a:t>Ranked #3</a:t>
                      </a:r>
                    </a:p>
                  </a:txBody>
                  <a:tcPr marL="0" marR="0" marT="0" marB="0" anchor="ctr" anchorCtr="0" horzOverflow="overflow"/>
                </a:tc>
                <a:tc>
                  <a:txBody>
                    <a:bodyPr/>
                    <a:lstStyle/>
                    <a:p>
                      <a:pPr algn="ctr" defTabSz="457200">
                        <a:defRPr sz="1800"/>
                      </a:pPr>
                      <a:r>
                        <a:rPr spc="70" sz="1000">
                          <a:latin typeface="+mj-lt"/>
                          <a:ea typeface="+mj-ea"/>
                          <a:cs typeface="+mj-cs"/>
                          <a:sym typeface="Helvetica"/>
                        </a:rPr>
                        <a:t>{{C3_WIN}}</a:t>
                      </a:r>
                    </a:p>
                  </a:txBody>
                  <a:tcPr marL="0" marR="0" marT="0" marB="0" anchor="ctr" anchorCtr="0" horzOverflow="overflow"/>
                </a:tc>
                <a:tc>
                  <a:txBody>
                    <a:bodyPr/>
                    <a:lstStyle/>
                    <a:p>
                      <a:pPr algn="ctr" defTabSz="457200">
                        <a:defRPr sz="1800"/>
                      </a:pPr>
                      <a:r>
                        <a:rPr spc="70" sz="1000">
                          <a:latin typeface="+mj-lt"/>
                          <a:ea typeface="+mj-ea"/>
                          <a:cs typeface="+mj-cs"/>
                          <a:sym typeface="Helvetica"/>
                        </a:rPr>
                        <a:t>{{C3_NET}}</a:t>
                      </a:r>
                    </a:p>
                  </a:txBody>
                  <a:tcPr marL="0" marR="0" marT="0" marB="0" anchor="ctr" anchorCtr="0" horzOverflow="overflow"/>
                </a:tc>
                <a:tc>
                  <a:txBody>
                    <a:bodyPr/>
                    <a:lstStyle/>
                    <a:p>
                      <a:pPr algn="ctr" defTabSz="457200">
                        <a:defRPr sz="1800"/>
                      </a:pPr>
                      <a:r>
                        <a:rPr spc="63" sz="900">
                          <a:latin typeface="+mj-lt"/>
                          <a:ea typeface="+mj-ea"/>
                          <a:cs typeface="+mj-cs"/>
                          <a:sym typeface="Helvetica"/>
                        </a:rPr>
                        <a:t>{{C3_IV}}</a:t>
                      </a:r>
                    </a:p>
                  </a:txBody>
                  <a:tcPr marL="0" marR="0" marT="0" marB="0" anchor="ctr" anchorCtr="0" horzOverflow="overflow"/>
                </a:tc>
                <a:tc>
                  <a:txBody>
                    <a:bodyPr/>
                    <a:lstStyle/>
                    <a:p>
                      <a:pPr algn="ctr" defTabSz="457200">
                        <a:defRPr sz="1800"/>
                      </a:pPr>
                      <a:r>
                        <a:rPr spc="63" sz="900">
                          <a:latin typeface="+mj-lt"/>
                          <a:ea typeface="+mj-ea"/>
                          <a:cs typeface="+mj-cs"/>
                          <a:sym typeface="Helvetica"/>
                        </a:rPr>
                        <a:t>{{C3_AL}}</a:t>
                      </a:r>
                    </a:p>
                  </a:txBody>
                  <a:tcPr marL="0" marR="0" marT="0" marB="0" anchor="ctr" anchorCtr="0" horzOverflow="overflow"/>
                </a:tc>
              </a:tr>
              <a:tr h="372068">
                <a:tc>
                  <a:txBody>
                    <a:bodyPr/>
                    <a:lstStyle/>
                    <a:p>
                      <a:pPr algn="ctr" defTabSz="457200">
                        <a:defRPr sz="1800"/>
                      </a:pPr>
                      <a:r>
                        <a:rPr spc="70" sz="1000">
                          <a:latin typeface="+mj-lt"/>
                          <a:ea typeface="+mj-ea"/>
                          <a:cs typeface="+mj-cs"/>
                          <a:sym typeface="Helvetica"/>
                        </a:rPr>
                        <a:t>Ranked #4</a:t>
                      </a:r>
                    </a:p>
                  </a:txBody>
                  <a:tcPr marL="0" marR="0" marT="0" marB="0" anchor="ctr" anchorCtr="0" horzOverflow="overflow"/>
                </a:tc>
                <a:tc>
                  <a:txBody>
                    <a:bodyPr/>
                    <a:lstStyle/>
                    <a:p>
                      <a:pPr algn="ctr" defTabSz="457200">
                        <a:defRPr sz="1800"/>
                      </a:pPr>
                      <a:r>
                        <a:rPr spc="70" sz="1000">
                          <a:latin typeface="+mj-lt"/>
                          <a:ea typeface="+mj-ea"/>
                          <a:cs typeface="+mj-cs"/>
                          <a:sym typeface="Helvetica"/>
                        </a:rPr>
                        <a:t>{{C4_WIN}}</a:t>
                      </a:r>
                    </a:p>
                  </a:txBody>
                  <a:tcPr marL="0" marR="0" marT="0" marB="0" anchor="ctr" anchorCtr="0" horzOverflow="overflow"/>
                </a:tc>
                <a:tc>
                  <a:txBody>
                    <a:bodyPr/>
                    <a:lstStyle/>
                    <a:p>
                      <a:pPr algn="ctr" defTabSz="457200">
                        <a:defRPr sz="1800"/>
                      </a:pPr>
                      <a:r>
                        <a:rPr spc="70" sz="1000">
                          <a:latin typeface="+mj-lt"/>
                          <a:ea typeface="+mj-ea"/>
                          <a:cs typeface="+mj-cs"/>
                          <a:sym typeface="Helvetica"/>
                        </a:rPr>
                        <a:t>{{C4_NET}}</a:t>
                      </a:r>
                    </a:p>
                  </a:txBody>
                  <a:tcPr marL="0" marR="0" marT="0" marB="0" anchor="ctr" anchorCtr="0" horzOverflow="overflow"/>
                </a:tc>
                <a:tc>
                  <a:txBody>
                    <a:bodyPr/>
                    <a:lstStyle/>
                    <a:p>
                      <a:pPr algn="ctr" defTabSz="457200">
                        <a:defRPr sz="1800"/>
                      </a:pPr>
                      <a:r>
                        <a:rPr spc="63" sz="900">
                          <a:latin typeface="+mj-lt"/>
                          <a:ea typeface="+mj-ea"/>
                          <a:cs typeface="+mj-cs"/>
                          <a:sym typeface="Helvetica"/>
                        </a:rPr>
                        <a:t>{{C4_IV}}</a:t>
                      </a:r>
                    </a:p>
                  </a:txBody>
                  <a:tcPr marL="0" marR="0" marT="0" marB="0" anchor="ctr" anchorCtr="0" horzOverflow="overflow"/>
                </a:tc>
                <a:tc>
                  <a:txBody>
                    <a:bodyPr/>
                    <a:lstStyle/>
                    <a:p>
                      <a:pPr algn="ctr" defTabSz="457200">
                        <a:defRPr sz="1800"/>
                      </a:pPr>
                      <a:r>
                        <a:rPr spc="63" sz="900">
                          <a:latin typeface="+mj-lt"/>
                          <a:ea typeface="+mj-ea"/>
                          <a:cs typeface="+mj-cs"/>
                          <a:sym typeface="Helvetica"/>
                        </a:rPr>
                        <a:t>{{C4_AL}}</a:t>
                      </a:r>
                    </a:p>
                  </a:txBody>
                  <a:tcPr marL="0" marR="0" marT="0" marB="0" anchor="ctr" anchorCtr="0" horzOverflow="overflow"/>
                </a:tc>
              </a:tr>
              <a:tr h="372068">
                <a:tc>
                  <a:txBody>
                    <a:bodyPr/>
                    <a:lstStyle/>
                    <a:p>
                      <a:pPr algn="ctr" defTabSz="457200">
                        <a:defRPr sz="1800"/>
                      </a:pPr>
                      <a:r>
                        <a:rPr spc="70" sz="1000">
                          <a:latin typeface="+mj-lt"/>
                          <a:ea typeface="+mj-ea"/>
                          <a:cs typeface="+mj-cs"/>
                          <a:sym typeface="Helvetica"/>
                        </a:rPr>
                        <a:t>Ranked #5</a:t>
                      </a:r>
                    </a:p>
                  </a:txBody>
                  <a:tcPr marL="0" marR="0" marT="0" marB="0" anchor="ctr" anchorCtr="0" horzOverflow="overflow"/>
                </a:tc>
                <a:tc>
                  <a:txBody>
                    <a:bodyPr/>
                    <a:lstStyle/>
                    <a:p>
                      <a:pPr algn="ctr" defTabSz="457200">
                        <a:defRPr sz="1800"/>
                      </a:pPr>
                      <a:r>
                        <a:rPr spc="70" sz="1000">
                          <a:latin typeface="+mj-lt"/>
                          <a:ea typeface="+mj-ea"/>
                          <a:cs typeface="+mj-cs"/>
                          <a:sym typeface="Helvetica"/>
                        </a:rPr>
                        <a:t>{{C5_WIN}}</a:t>
                      </a:r>
                    </a:p>
                  </a:txBody>
                  <a:tcPr marL="0" marR="0" marT="0" marB="0" anchor="ctr" anchorCtr="0" horzOverflow="overflow"/>
                </a:tc>
                <a:tc>
                  <a:txBody>
                    <a:bodyPr/>
                    <a:lstStyle/>
                    <a:p>
                      <a:pPr algn="ctr" defTabSz="457200">
                        <a:defRPr sz="1800"/>
                      </a:pPr>
                      <a:r>
                        <a:rPr spc="70" sz="1000">
                          <a:latin typeface="+mj-lt"/>
                          <a:ea typeface="+mj-ea"/>
                          <a:cs typeface="+mj-cs"/>
                          <a:sym typeface="Helvetica"/>
                        </a:rPr>
                        <a:t>{{C5_NET}}</a:t>
                      </a:r>
                    </a:p>
                  </a:txBody>
                  <a:tcPr marL="0" marR="0" marT="0" marB="0" anchor="ctr" anchorCtr="0" horzOverflow="overflow"/>
                </a:tc>
                <a:tc>
                  <a:txBody>
                    <a:bodyPr/>
                    <a:lstStyle/>
                    <a:p>
                      <a:pPr algn="ctr" defTabSz="457200">
                        <a:defRPr sz="1800"/>
                      </a:pPr>
                      <a:r>
                        <a:rPr spc="63" sz="900">
                          <a:latin typeface="+mj-lt"/>
                          <a:ea typeface="+mj-ea"/>
                          <a:cs typeface="+mj-cs"/>
                          <a:sym typeface="Helvetica"/>
                        </a:rPr>
                        <a:t>{{C5_IV}}</a:t>
                      </a:r>
                    </a:p>
                  </a:txBody>
                  <a:tcPr marL="0" marR="0" marT="0" marB="0" anchor="ctr" anchorCtr="0" horzOverflow="overflow"/>
                </a:tc>
                <a:tc>
                  <a:txBody>
                    <a:bodyPr/>
                    <a:lstStyle/>
                    <a:p>
                      <a:pPr algn="ctr" defTabSz="457200">
                        <a:defRPr sz="1800"/>
                      </a:pPr>
                      <a:r>
                        <a:rPr spc="63" sz="900">
                          <a:latin typeface="+mj-lt"/>
                          <a:ea typeface="+mj-ea"/>
                          <a:cs typeface="+mj-cs"/>
                          <a:sym typeface="Helvetica"/>
                        </a:rPr>
                        <a:t>{{C5_AL}}</a:t>
                      </a:r>
                    </a:p>
                  </a:txBody>
                  <a:tcPr marL="0" marR="0" marT="0" marB="0" anchor="ctr" anchorCtr="0" horzOverflow="overflow"/>
                </a:tc>
              </a:tr>
              <a:tr h="372068">
                <a:tc>
                  <a:txBody>
                    <a:bodyPr/>
                    <a:lstStyle/>
                    <a:p>
                      <a:pPr algn="ctr" defTabSz="457200">
                        <a:defRPr sz="1800"/>
                      </a:pPr>
                      <a:r>
                        <a:rPr spc="70" sz="1000">
                          <a:latin typeface="+mj-lt"/>
                          <a:ea typeface="+mj-ea"/>
                          <a:cs typeface="+mj-cs"/>
                          <a:sym typeface="Helvetica"/>
                        </a:rPr>
                        <a:t>Ranked #1</a:t>
                      </a:r>
                    </a:p>
                  </a:txBody>
                  <a:tcPr marL="0" marR="0" marT="0" marB="0" anchor="ctr" anchorCtr="0" horzOverflow="overflow"/>
                </a:tc>
                <a:tc>
                  <a:txBody>
                    <a:bodyPr/>
                    <a:lstStyle/>
                    <a:p>
                      <a:pPr algn="ctr" defTabSz="457200">
                        <a:defRPr sz="1800"/>
                      </a:pPr>
                      <a:r>
                        <a:rPr spc="70" sz="1000">
                          <a:latin typeface="+mj-lt"/>
                          <a:ea typeface="+mj-ea"/>
                          <a:cs typeface="+mj-cs"/>
                          <a:sym typeface="Helvetica"/>
                        </a:rPr>
                        <a:t>{{R1_WIN}}</a:t>
                      </a:r>
                    </a:p>
                  </a:txBody>
                  <a:tcPr marL="0" marR="0" marT="0" marB="0" anchor="ctr" anchorCtr="0" horzOverflow="overflow"/>
                </a:tc>
                <a:tc>
                  <a:txBody>
                    <a:bodyPr/>
                    <a:lstStyle/>
                    <a:p>
                      <a:pPr algn="ctr" defTabSz="457200">
                        <a:defRPr sz="1800"/>
                      </a:pPr>
                      <a:r>
                        <a:rPr spc="70" sz="1000">
                          <a:latin typeface="+mj-lt"/>
                          <a:ea typeface="+mj-ea"/>
                          <a:cs typeface="+mj-cs"/>
                          <a:sym typeface="Helvetica"/>
                        </a:rPr>
                        <a:t>{{R1_NET}}</a:t>
                      </a:r>
                    </a:p>
                  </a:txBody>
                  <a:tcPr marL="0" marR="0" marT="0" marB="0" anchor="ctr" anchorCtr="0" horzOverflow="overflow"/>
                </a:tc>
                <a:tc>
                  <a:txBody>
                    <a:bodyPr/>
                    <a:lstStyle/>
                    <a:p>
                      <a:pPr algn="ctr" defTabSz="457200">
                        <a:defRPr sz="1800"/>
                      </a:pPr>
                      <a:r>
                        <a:rPr spc="63" sz="900">
                          <a:latin typeface="+mj-lt"/>
                          <a:ea typeface="+mj-ea"/>
                          <a:cs typeface="+mj-cs"/>
                          <a:sym typeface="Helvetica"/>
                        </a:rPr>
                        <a:t>{{R1_IV}}</a:t>
                      </a:r>
                    </a:p>
                  </a:txBody>
                  <a:tcPr marL="0" marR="0" marT="0" marB="0" anchor="ctr" anchorCtr="0" horzOverflow="overflow"/>
                </a:tc>
                <a:tc>
                  <a:txBody>
                    <a:bodyPr/>
                    <a:lstStyle/>
                    <a:p>
                      <a:pPr algn="ctr" defTabSz="457200">
                        <a:defRPr sz="1800"/>
                      </a:pPr>
                      <a:r>
                        <a:rPr spc="63" sz="900">
                          <a:latin typeface="+mj-lt"/>
                          <a:ea typeface="+mj-ea"/>
                          <a:cs typeface="+mj-cs"/>
                          <a:sym typeface="Helvetica"/>
                        </a:rPr>
                        <a:t>{{R1_AL}}</a:t>
                      </a:r>
                    </a:p>
                  </a:txBody>
                  <a:tcPr marL="0" marR="0" marT="0" marB="0" anchor="ctr" anchorCtr="0" horzOverflow="overflow"/>
                </a:tc>
              </a:tr>
              <a:tr h="372068">
                <a:tc>
                  <a:txBody>
                    <a:bodyPr/>
                    <a:lstStyle/>
                    <a:p>
                      <a:pPr algn="ctr" defTabSz="457200">
                        <a:defRPr sz="1800"/>
                      </a:pPr>
                      <a:r>
                        <a:rPr spc="70" sz="1000">
                          <a:latin typeface="+mj-lt"/>
                          <a:ea typeface="+mj-ea"/>
                          <a:cs typeface="+mj-cs"/>
                          <a:sym typeface="Helvetica"/>
                        </a:rPr>
                        <a:t>Ranked #2</a:t>
                      </a:r>
                    </a:p>
                  </a:txBody>
                  <a:tcPr marL="0" marR="0" marT="0" marB="0" anchor="ctr" anchorCtr="0" horzOverflow="overflow"/>
                </a:tc>
                <a:tc>
                  <a:txBody>
                    <a:bodyPr/>
                    <a:lstStyle/>
                    <a:p>
                      <a:pPr algn="ctr" defTabSz="457200">
                        <a:defRPr sz="1800"/>
                      </a:pPr>
                      <a:r>
                        <a:rPr spc="70" sz="1000">
                          <a:latin typeface="+mj-lt"/>
                          <a:ea typeface="+mj-ea"/>
                          <a:cs typeface="+mj-cs"/>
                          <a:sym typeface="Helvetica"/>
                        </a:rPr>
                        <a:t>{{R2_WIN}}</a:t>
                      </a:r>
                    </a:p>
                  </a:txBody>
                  <a:tcPr marL="0" marR="0" marT="0" marB="0" anchor="ctr" anchorCtr="0" horzOverflow="overflow"/>
                </a:tc>
                <a:tc>
                  <a:txBody>
                    <a:bodyPr/>
                    <a:lstStyle/>
                    <a:p>
                      <a:pPr algn="ctr" defTabSz="457200">
                        <a:defRPr sz="1800"/>
                      </a:pPr>
                      <a:r>
                        <a:rPr spc="70" sz="1000">
                          <a:latin typeface="+mj-lt"/>
                          <a:ea typeface="+mj-ea"/>
                          <a:cs typeface="+mj-cs"/>
                          <a:sym typeface="Helvetica"/>
                        </a:rPr>
                        <a:t>{{R2_NET}}</a:t>
                      </a:r>
                    </a:p>
                  </a:txBody>
                  <a:tcPr marL="0" marR="0" marT="0" marB="0" anchor="ctr" anchorCtr="0" horzOverflow="overflow"/>
                </a:tc>
                <a:tc>
                  <a:txBody>
                    <a:bodyPr/>
                    <a:lstStyle/>
                    <a:p>
                      <a:pPr algn="ctr" defTabSz="457200">
                        <a:defRPr sz="1800"/>
                      </a:pPr>
                      <a:r>
                        <a:rPr spc="63" sz="900">
                          <a:latin typeface="+mj-lt"/>
                          <a:ea typeface="+mj-ea"/>
                          <a:cs typeface="+mj-cs"/>
                          <a:sym typeface="Helvetica"/>
                        </a:rPr>
                        <a:t>{{R2_IV}}</a:t>
                      </a:r>
                    </a:p>
                  </a:txBody>
                  <a:tcPr marL="0" marR="0" marT="0" marB="0" anchor="ctr" anchorCtr="0" horzOverflow="overflow"/>
                </a:tc>
                <a:tc>
                  <a:txBody>
                    <a:bodyPr/>
                    <a:lstStyle/>
                    <a:p>
                      <a:pPr algn="ctr" defTabSz="457200">
                        <a:defRPr sz="1800"/>
                      </a:pPr>
                      <a:r>
                        <a:rPr spc="63" sz="900">
                          <a:latin typeface="+mj-lt"/>
                          <a:ea typeface="+mj-ea"/>
                          <a:cs typeface="+mj-cs"/>
                          <a:sym typeface="Helvetica"/>
                        </a:rPr>
                        <a:t>{{R2_AL}}</a:t>
                      </a:r>
                    </a:p>
                  </a:txBody>
                  <a:tcPr marL="0" marR="0" marT="0" marB="0" anchor="ctr" anchorCtr="0" horzOverflow="overflow"/>
                </a:tc>
              </a:tr>
              <a:tr h="372068">
                <a:tc>
                  <a:txBody>
                    <a:bodyPr/>
                    <a:lstStyle/>
                    <a:p>
                      <a:pPr algn="ctr" defTabSz="457200">
                        <a:defRPr sz="1800"/>
                      </a:pPr>
                      <a:r>
                        <a:rPr spc="70" sz="1000">
                          <a:latin typeface="+mj-lt"/>
                          <a:ea typeface="+mj-ea"/>
                          <a:cs typeface="+mj-cs"/>
                          <a:sym typeface="Helvetica"/>
                        </a:rPr>
                        <a:t>Ranked #3</a:t>
                      </a:r>
                    </a:p>
                  </a:txBody>
                  <a:tcPr marL="0" marR="0" marT="0" marB="0" anchor="ctr" anchorCtr="0" horzOverflow="overflow"/>
                </a:tc>
                <a:tc>
                  <a:txBody>
                    <a:bodyPr/>
                    <a:lstStyle/>
                    <a:p>
                      <a:pPr algn="ctr" defTabSz="457200">
                        <a:defRPr sz="1800"/>
                      </a:pPr>
                      <a:r>
                        <a:rPr spc="70" sz="1000">
                          <a:latin typeface="+mj-lt"/>
                          <a:ea typeface="+mj-ea"/>
                          <a:cs typeface="+mj-cs"/>
                          <a:sym typeface="Helvetica"/>
                        </a:rPr>
                        <a:t>{{R3_WIN}}</a:t>
                      </a:r>
                    </a:p>
                  </a:txBody>
                  <a:tcPr marL="0" marR="0" marT="0" marB="0" anchor="ctr" anchorCtr="0" horzOverflow="overflow"/>
                </a:tc>
                <a:tc>
                  <a:txBody>
                    <a:bodyPr/>
                    <a:lstStyle/>
                    <a:p>
                      <a:pPr algn="ctr" defTabSz="457200">
                        <a:defRPr sz="1800"/>
                      </a:pPr>
                      <a:r>
                        <a:rPr spc="70" sz="1000">
                          <a:latin typeface="+mj-lt"/>
                          <a:ea typeface="+mj-ea"/>
                          <a:cs typeface="+mj-cs"/>
                          <a:sym typeface="Helvetica"/>
                        </a:rPr>
                        <a:t>{{R3_NET}}</a:t>
                      </a:r>
                    </a:p>
                  </a:txBody>
                  <a:tcPr marL="0" marR="0" marT="0" marB="0" anchor="ctr" anchorCtr="0" horzOverflow="overflow"/>
                </a:tc>
                <a:tc>
                  <a:txBody>
                    <a:bodyPr/>
                    <a:lstStyle/>
                    <a:p>
                      <a:pPr algn="ctr" defTabSz="457200">
                        <a:defRPr sz="1800"/>
                      </a:pPr>
                      <a:r>
                        <a:rPr spc="63" sz="900">
                          <a:latin typeface="+mj-lt"/>
                          <a:ea typeface="+mj-ea"/>
                          <a:cs typeface="+mj-cs"/>
                          <a:sym typeface="Helvetica"/>
                        </a:rPr>
                        <a:t>{{R3_IV}}</a:t>
                      </a:r>
                    </a:p>
                  </a:txBody>
                  <a:tcPr marL="0" marR="0" marT="0" marB="0" anchor="ctr" anchorCtr="0" horzOverflow="overflow"/>
                </a:tc>
                <a:tc>
                  <a:txBody>
                    <a:bodyPr/>
                    <a:lstStyle/>
                    <a:p>
                      <a:pPr algn="ctr" defTabSz="457200">
                        <a:defRPr sz="1800"/>
                      </a:pPr>
                      <a:r>
                        <a:rPr spc="63" sz="900">
                          <a:latin typeface="+mj-lt"/>
                          <a:ea typeface="+mj-ea"/>
                          <a:cs typeface="+mj-cs"/>
                          <a:sym typeface="Helvetica"/>
                        </a:rPr>
                        <a:t>{{R3_AL}}</a:t>
                      </a:r>
                    </a:p>
                  </a:txBody>
                  <a:tcPr marL="0" marR="0" marT="0" marB="0" anchor="ctr" anchorCtr="0" horzOverflow="overflow"/>
                </a:tc>
              </a:tr>
              <a:tr h="372068">
                <a:tc>
                  <a:txBody>
                    <a:bodyPr/>
                    <a:lstStyle/>
                    <a:p>
                      <a:pPr algn="ctr" defTabSz="457200">
                        <a:defRPr sz="1800"/>
                      </a:pPr>
                      <a:r>
                        <a:rPr spc="70" sz="1000">
                          <a:latin typeface="+mj-lt"/>
                          <a:ea typeface="+mj-ea"/>
                          <a:cs typeface="+mj-cs"/>
                          <a:sym typeface="Helvetica"/>
                        </a:rPr>
                        <a:t>Ranked #4</a:t>
                      </a:r>
                    </a:p>
                  </a:txBody>
                  <a:tcPr marL="0" marR="0" marT="0" marB="0" anchor="ctr" anchorCtr="0" horzOverflow="overflow"/>
                </a:tc>
                <a:tc>
                  <a:txBody>
                    <a:bodyPr/>
                    <a:lstStyle/>
                    <a:p>
                      <a:pPr algn="ctr" defTabSz="457200">
                        <a:defRPr sz="1800"/>
                      </a:pPr>
                      <a:r>
                        <a:rPr spc="70" sz="1000">
                          <a:latin typeface="+mj-lt"/>
                          <a:ea typeface="+mj-ea"/>
                          <a:cs typeface="+mj-cs"/>
                          <a:sym typeface="Helvetica"/>
                        </a:rPr>
                        <a:t>{{R4_WIN}}</a:t>
                      </a:r>
                    </a:p>
                  </a:txBody>
                  <a:tcPr marL="0" marR="0" marT="0" marB="0" anchor="ctr" anchorCtr="0" horzOverflow="overflow"/>
                </a:tc>
                <a:tc>
                  <a:txBody>
                    <a:bodyPr/>
                    <a:lstStyle/>
                    <a:p>
                      <a:pPr algn="ctr" defTabSz="457200">
                        <a:defRPr sz="1800"/>
                      </a:pPr>
                      <a:r>
                        <a:rPr spc="70" sz="1000">
                          <a:latin typeface="+mj-lt"/>
                          <a:ea typeface="+mj-ea"/>
                          <a:cs typeface="+mj-cs"/>
                          <a:sym typeface="Helvetica"/>
                        </a:rPr>
                        <a:t>{{R4_NET}}</a:t>
                      </a:r>
                    </a:p>
                  </a:txBody>
                  <a:tcPr marL="0" marR="0" marT="0" marB="0" anchor="ctr" anchorCtr="0" horzOverflow="overflow"/>
                </a:tc>
                <a:tc>
                  <a:txBody>
                    <a:bodyPr/>
                    <a:lstStyle/>
                    <a:p>
                      <a:pPr algn="ctr" defTabSz="457200">
                        <a:defRPr sz="1800"/>
                      </a:pPr>
                      <a:r>
                        <a:rPr spc="63" sz="900">
                          <a:latin typeface="+mj-lt"/>
                          <a:ea typeface="+mj-ea"/>
                          <a:cs typeface="+mj-cs"/>
                          <a:sym typeface="Helvetica"/>
                        </a:rPr>
                        <a:t>{{R4_IV}}</a:t>
                      </a:r>
                    </a:p>
                  </a:txBody>
                  <a:tcPr marL="0" marR="0" marT="0" marB="0" anchor="ctr" anchorCtr="0" horzOverflow="overflow"/>
                </a:tc>
                <a:tc>
                  <a:txBody>
                    <a:bodyPr/>
                    <a:lstStyle/>
                    <a:p>
                      <a:pPr algn="ctr" defTabSz="457200">
                        <a:defRPr sz="1800"/>
                      </a:pPr>
                      <a:r>
                        <a:rPr spc="63" sz="900">
                          <a:latin typeface="+mj-lt"/>
                          <a:ea typeface="+mj-ea"/>
                          <a:cs typeface="+mj-cs"/>
                          <a:sym typeface="Helvetica"/>
                        </a:rPr>
                        <a:t>{{R4_AL}}</a:t>
                      </a:r>
                    </a:p>
                  </a:txBody>
                  <a:tcPr marL="0" marR="0" marT="0" marB="0" anchor="ctr" anchorCtr="0" horzOverflow="overflow"/>
                </a:tc>
              </a:tr>
              <a:tr h="372068">
                <a:tc>
                  <a:txBody>
                    <a:bodyPr/>
                    <a:lstStyle/>
                    <a:p>
                      <a:pPr algn="ctr" defTabSz="457200">
                        <a:defRPr sz="1800"/>
                      </a:pPr>
                      <a:r>
                        <a:rPr spc="70" sz="1000">
                          <a:latin typeface="+mj-lt"/>
                          <a:ea typeface="+mj-ea"/>
                          <a:cs typeface="+mj-cs"/>
                          <a:sym typeface="Helvetica"/>
                        </a:rPr>
                        <a:t>Ranked #5</a:t>
                      </a:r>
                    </a:p>
                  </a:txBody>
                  <a:tcPr marL="0" marR="0" marT="0" marB="0" anchor="ctr" anchorCtr="0" horzOverflow="overflow"/>
                </a:tc>
                <a:tc>
                  <a:txBody>
                    <a:bodyPr/>
                    <a:lstStyle/>
                    <a:p>
                      <a:pPr algn="ctr" defTabSz="457200">
                        <a:defRPr sz="1800"/>
                      </a:pPr>
                      <a:r>
                        <a:rPr spc="70" sz="1000">
                          <a:latin typeface="+mj-lt"/>
                          <a:ea typeface="+mj-ea"/>
                          <a:cs typeface="+mj-cs"/>
                          <a:sym typeface="Helvetica"/>
                        </a:rPr>
                        <a:t>{{R5_WIN}}</a:t>
                      </a:r>
                    </a:p>
                  </a:txBody>
                  <a:tcPr marL="0" marR="0" marT="0" marB="0" anchor="ctr" anchorCtr="0" horzOverflow="overflow"/>
                </a:tc>
                <a:tc>
                  <a:txBody>
                    <a:bodyPr/>
                    <a:lstStyle/>
                    <a:p>
                      <a:pPr algn="ctr" defTabSz="457200">
                        <a:defRPr sz="1800"/>
                      </a:pPr>
                      <a:r>
                        <a:rPr spc="70" sz="1000">
                          <a:latin typeface="+mj-lt"/>
                          <a:ea typeface="+mj-ea"/>
                          <a:cs typeface="+mj-cs"/>
                          <a:sym typeface="Helvetica"/>
                        </a:rPr>
                        <a:t>{{R5_NET}}</a:t>
                      </a:r>
                    </a:p>
                  </a:txBody>
                  <a:tcPr marL="0" marR="0" marT="0" marB="0" anchor="ctr" anchorCtr="0" horzOverflow="overflow"/>
                </a:tc>
                <a:tc>
                  <a:txBody>
                    <a:bodyPr/>
                    <a:lstStyle/>
                    <a:p>
                      <a:pPr algn="ctr" defTabSz="457200">
                        <a:defRPr sz="1800"/>
                      </a:pPr>
                      <a:r>
                        <a:rPr spc="63" sz="900">
                          <a:latin typeface="+mj-lt"/>
                          <a:ea typeface="+mj-ea"/>
                          <a:cs typeface="+mj-cs"/>
                          <a:sym typeface="Helvetica"/>
                        </a:rPr>
                        <a:t>{{R5_IV}}</a:t>
                      </a:r>
                    </a:p>
                  </a:txBody>
                  <a:tcPr marL="0" marR="0" marT="0" marB="0" anchor="ctr" anchorCtr="0" horzOverflow="overflow"/>
                </a:tc>
                <a:tc>
                  <a:txBody>
                    <a:bodyPr/>
                    <a:lstStyle/>
                    <a:p>
                      <a:pPr algn="ctr" defTabSz="457200">
                        <a:defRPr sz="1800"/>
                      </a:pPr>
                      <a:r>
                        <a:rPr spc="63" sz="900">
                          <a:latin typeface="+mj-lt"/>
                          <a:ea typeface="+mj-ea"/>
                          <a:cs typeface="+mj-cs"/>
                          <a:sym typeface="Helvetica"/>
                        </a:rPr>
                        <a:t>{{R5_AL}}</a:t>
                      </a:r>
                    </a:p>
                  </a:txBody>
                  <a:tcPr marL="0" marR="0" marT="0" marB="0" anchor="ctr" anchorCtr="0" horzOverflow="overflow"/>
                </a:tc>
              </a:tr>
            </a:tbl>
          </a:graphicData>
        </a:graphic>
      </p:graphicFrame>
      <p:sp>
        <p:nvSpPr>
          <p:cNvPr id="37" name="Triangle"/>
          <p:cNvSpPr/>
          <p:nvPr/>
        </p:nvSpPr>
        <p:spPr>
          <a:xfrm rot="10800000">
            <a:off x="5865212" y="563887"/>
            <a:ext cx="461576" cy="13934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10800" y="0"/>
                </a:move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F1F4F8"/>
          </a:solidFill>
          <a:ln w="12700">
            <a:miter lim="400000"/>
          </a:ln>
        </p:spPr>
        <p:txBody>
          <a:bodyPr lIns="45719" rIns="45719" anchor="ctr"/>
          <a:lstStyle/>
          <a:p>
            <a:pPr/>
          </a:p>
        </p:txBody>
      </p:sp>
      <p:sp>
        <p:nvSpPr>
          <p:cNvPr id="38" name="Rounded Rectangle"/>
          <p:cNvSpPr/>
          <p:nvPr/>
        </p:nvSpPr>
        <p:spPr>
          <a:xfrm rot="16200000">
            <a:off x="-206659" y="3550316"/>
            <a:ext cx="1840726" cy="448875"/>
          </a:xfrm>
          <a:prstGeom prst="roundRect">
            <a:avLst>
              <a:gd name="adj" fmla="val 0"/>
            </a:avLst>
          </a:prstGeom>
          <a:ln w="6350">
            <a:solidFill>
              <a:srgbClr val="000000"/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/>
          <a:lstStyle/>
          <a:p>
            <a:pPr algn="ctr">
              <a:defRPr cap="all" spc="112" sz="1000">
                <a:solidFill>
                  <a:srgbClr val="11315D"/>
                </a:solidFill>
                <a:latin typeface="+mj-lt"/>
                <a:ea typeface="+mj-ea"/>
                <a:cs typeface="+mj-cs"/>
                <a:sym typeface="Helvetica"/>
              </a:defRPr>
            </a:pPr>
            <a:r>
              <a:t>Selected for </a:t>
            </a:r>
            <a:r>
              <a:t>Consistency</a:t>
            </a:r>
          </a:p>
        </p:txBody>
      </p:sp>
      <p:sp>
        <p:nvSpPr>
          <p:cNvPr id="39" name="Rounded Rectangle"/>
          <p:cNvSpPr/>
          <p:nvPr/>
        </p:nvSpPr>
        <p:spPr>
          <a:xfrm rot="16200000">
            <a:off x="-206659" y="5415334"/>
            <a:ext cx="1840726" cy="448875"/>
          </a:xfrm>
          <a:prstGeom prst="roundRect">
            <a:avLst>
              <a:gd name="adj" fmla="val 0"/>
            </a:avLst>
          </a:prstGeom>
          <a:ln w="6350">
            <a:solidFill>
              <a:srgbClr val="000000"/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/>
          <a:lstStyle/>
          <a:p>
            <a:pPr algn="ctr">
              <a:defRPr cap="all" spc="112" sz="1000">
                <a:solidFill>
                  <a:srgbClr val="11315D"/>
                </a:solidFill>
                <a:latin typeface="+mj-lt"/>
                <a:ea typeface="+mj-ea"/>
                <a:cs typeface="+mj-cs"/>
                <a:sym typeface="Helvetica"/>
              </a:defRPr>
            </a:pPr>
            <a:r>
              <a:t>Selected for</a:t>
            </a:r>
          </a:p>
          <a:p>
            <a:pPr algn="ctr">
              <a:defRPr cap="all" spc="112" sz="1000">
                <a:solidFill>
                  <a:srgbClr val="11315D"/>
                </a:solidFill>
                <a:latin typeface="+mj-lt"/>
                <a:ea typeface="+mj-ea"/>
                <a:cs typeface="+mj-cs"/>
                <a:sym typeface="Helvetica"/>
              </a:defRPr>
            </a:pPr>
            <a:r>
              <a:t>RETURN</a:t>
            </a:r>
          </a:p>
        </p:txBody>
      </p:sp>
      <p:sp>
        <p:nvSpPr>
          <p:cNvPr id="40" name="Text Placeholder 5"/>
          <p:cNvSpPr txBox="1"/>
          <p:nvPr/>
        </p:nvSpPr>
        <p:spPr>
          <a:xfrm>
            <a:off x="500000" y="796344"/>
            <a:ext cx="11192000" cy="546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lnSpc>
                <a:spcPct val="90000"/>
              </a:lnSpc>
              <a:spcBef>
                <a:spcPts val="1000"/>
              </a:spcBef>
              <a:defRPr b="1" sz="{{TITLE_SZ}}">
                <a:solidFill>
                  <a:srgbClr val="003260"/>
                </a:solidFill>
                <a:latin typeface="+mj-lt"/>
                <a:ea typeface="+mj-ea"/>
                <a:cs typeface="+mj-cs"/>
                <a:sym typeface="Helvetica"/>
              </a:defRPr>
            </a:lvl1pPr>
          </a:lstStyle>
          <a:p>
            <a:pPr/>
            <a:r>
              <a:t>{{GRID_TITLE}}</a:t>
            </a:r>
          </a:p>
        </p:txBody>
      </p:sp>
      <p:sp>
        <p:nvSpPr>
          <p:cNvPr id="41" name="Basis note"/>
          <p:cNvSpPr txBox="1"/>
          <p:nvPr/>
        </p:nvSpPr>
        <p:spPr>
          <a:xfrm>
            <a:off x="500000" y="1640000"/>
            <a:ext cx="11192000" cy="170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en-US" sz="900">
                <a:solidFill>
                  <a:srgbClr val="5B6B82"/>
                </a:solidFill>
                <a:latin typeface="+mj-lt"/>
                <a:ea typeface="+mj-ea"/>
                <a:cs typeface="+mj-cs"/>
              </a:rPr>
              <a:t>{{BASIS}}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" name="North-Valley_Cover2.jpg" descr="North-Valley_Cover2.jp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 w="12700">
            <a:miter lim="400000"/>
          </a:ln>
        </p:spPr>
      </p:pic>
      <p:sp>
        <p:nvSpPr>
          <p:cNvPr id="43" name="Rounded Rectangle 8"/>
          <p:cNvSpPr/>
          <p:nvPr/>
        </p:nvSpPr>
        <p:spPr>
          <a:xfrm>
            <a:off x="10585250" y="4028293"/>
            <a:ext cx="802729" cy="57956"/>
          </a:xfrm>
          <a:prstGeom prst="roundRect">
            <a:avLst>
              <a:gd name="adj" fmla="val 50000"/>
            </a:avLst>
          </a:prstGeom>
          <a:solidFill>
            <a:srgbClr val="C82828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pic>
        <p:nvPicPr>
          <p:cNvPr id="44" name="North Valley Insurance Logo(1)_White.png" descr="North Valley Insurance Logo(1)_White.png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8185514" y="2754129"/>
            <a:ext cx="3546863" cy="1224777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000FF"/>
      </a:hlink>
      <a:folHlink>
        <a:srgbClr val="FF00FF"/>
      </a:folHlink>
    </a:clrScheme>
    <a:fontScheme name="Office Theme">
      <a:majorFont>
        <a:latin typeface="Helvetica"/>
        <a:ea typeface="Helvetica"/>
        <a:cs typeface="Helvetica"/>
      </a:majorFont>
      <a:minorFont>
        <a:latin typeface="Calibri"/>
        <a:ea typeface="Calibri"/>
        <a:cs typeface="Calibri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ctr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000FF"/>
      </a:hlink>
      <a:folHlink>
        <a:srgbClr val="FF00FF"/>
      </a:folHlink>
    </a:clrScheme>
    <a:fontScheme name="Office Theme">
      <a:majorFont>
        <a:latin typeface="Helvetica"/>
        <a:ea typeface="Helvetica"/>
        <a:cs typeface="Helvetica"/>
      </a:majorFont>
      <a:minorFont>
        <a:latin typeface="Calibri"/>
        <a:ea typeface="Calibri"/>
        <a:cs typeface="Calibri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ctr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